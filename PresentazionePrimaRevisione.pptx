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DBFED-EFB5-4F69-9440-22BEB0B0A1A0}" v="142" dt="2025-12-14T14:14:19.723"/>
    <p1510:client id="{A49BFBFD-A80F-43A0-BDB0-4938933E7504}" v="719" dt="2025-12-14T16:09:36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6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8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7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7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4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6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1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0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9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1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70165" y="1088571"/>
            <a:ext cx="7538405" cy="2774393"/>
          </a:xfrm>
        </p:spPr>
        <p:txBody>
          <a:bodyPr>
            <a:normAutofit/>
          </a:bodyPr>
          <a:lstStyle/>
          <a:p>
            <a:pPr algn="l"/>
            <a:r>
              <a:rPr lang="de-DE" sz="5400"/>
              <a:t>Progetto ISS </a:t>
            </a:r>
            <a:r>
              <a:rPr lang="de-DE" sz="5400" err="1"/>
              <a:t>Elyndor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68124" y="4027211"/>
            <a:ext cx="7769898" cy="14963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de-DE" sz="2200"/>
              <a:t>Andrea Angelo </a:t>
            </a:r>
            <a:r>
              <a:rPr lang="de-DE" sz="2200" err="1"/>
              <a:t>Segreto</a:t>
            </a:r>
            <a:endParaRPr lang="it-IT" err="1"/>
          </a:p>
          <a:p>
            <a:pPr algn="l"/>
            <a:r>
              <a:rPr lang="de-DE" sz="2200"/>
              <a:t>Alessandro </a:t>
            </a:r>
            <a:r>
              <a:rPr lang="de-DE" sz="2200" err="1"/>
              <a:t>Bombace</a:t>
            </a:r>
          </a:p>
          <a:p>
            <a:pPr algn="l"/>
            <a:r>
              <a:rPr lang="de-DE" sz="2200"/>
              <a:t>Pietro </a:t>
            </a:r>
            <a:r>
              <a:rPr lang="de-DE" sz="2200" err="1"/>
              <a:t>Sposimo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1B523B-6646-4433-BB9D-74DB7B4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4400" err="1"/>
              <a:t>Elyndor</a:t>
            </a:r>
            <a:endParaRPr lang="it-IT" sz="44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572789-70FF-F6CC-FED9-551BA0A03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74393"/>
            <a:ext cx="10653579" cy="5182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>
                <a:ea typeface="+mn-lt"/>
                <a:cs typeface="+mn-lt"/>
              </a:rPr>
              <a:t>The Setting (Lore)</a:t>
            </a:r>
            <a:r>
              <a:rPr lang="it-IT">
                <a:ea typeface="+mn-lt"/>
                <a:cs typeface="+mn-lt"/>
              </a:rPr>
              <a:t> In the </a:t>
            </a:r>
            <a:r>
              <a:rPr lang="it-IT" err="1">
                <a:ea typeface="+mn-lt"/>
                <a:cs typeface="+mn-lt"/>
              </a:rPr>
              <a:t>magical</a:t>
            </a:r>
            <a:r>
              <a:rPr lang="it-IT">
                <a:ea typeface="+mn-lt"/>
                <a:cs typeface="+mn-lt"/>
              </a:rPr>
              <a:t> world of </a:t>
            </a:r>
            <a:r>
              <a:rPr lang="it-IT" err="1">
                <a:ea typeface="+mn-lt"/>
                <a:cs typeface="+mn-lt"/>
              </a:rPr>
              <a:t>Elyndor</a:t>
            </a:r>
            <a:r>
              <a:rPr lang="it-IT">
                <a:ea typeface="+mn-lt"/>
                <a:cs typeface="+mn-lt"/>
              </a:rPr>
              <a:t>, war </a:t>
            </a:r>
            <a:r>
              <a:rPr lang="it-IT" err="1">
                <a:ea typeface="+mn-lt"/>
                <a:cs typeface="+mn-lt"/>
              </a:rPr>
              <a:t>has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been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replaced</a:t>
            </a:r>
            <a:r>
              <a:rPr lang="it-IT">
                <a:ea typeface="+mn-lt"/>
                <a:cs typeface="+mn-lt"/>
              </a:rPr>
              <a:t> by </a:t>
            </a:r>
            <a:r>
              <a:rPr lang="it-IT" err="1">
                <a:ea typeface="+mn-lt"/>
                <a:cs typeface="+mn-lt"/>
              </a:rPr>
              <a:t>ritual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duels</a:t>
            </a:r>
            <a:r>
              <a:rPr lang="it-IT">
                <a:ea typeface="+mn-lt"/>
                <a:cs typeface="+mn-lt"/>
              </a:rPr>
              <a:t>. </a:t>
            </a:r>
            <a:r>
              <a:rPr lang="it-IT" err="1">
                <a:ea typeface="+mn-lt"/>
                <a:cs typeface="+mn-lt"/>
              </a:rPr>
              <a:t>Summoners</a:t>
            </a:r>
            <a:r>
              <a:rPr lang="it-IT">
                <a:ea typeface="+mn-lt"/>
                <a:cs typeface="+mn-lt"/>
              </a:rPr>
              <a:t> do </a:t>
            </a:r>
            <a:r>
              <a:rPr lang="it-IT" err="1">
                <a:ea typeface="+mn-lt"/>
                <a:cs typeface="+mn-lt"/>
              </a:rPr>
              <a:t>not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fight</a:t>
            </a:r>
            <a:r>
              <a:rPr lang="it-IT">
                <a:ea typeface="+mn-lt"/>
                <a:cs typeface="+mn-lt"/>
              </a:rPr>
              <a:t> to </a:t>
            </a:r>
            <a:r>
              <a:rPr lang="it-IT" err="1">
                <a:ea typeface="+mn-lt"/>
                <a:cs typeface="+mn-lt"/>
              </a:rPr>
              <a:t>destroy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but</a:t>
            </a:r>
            <a:r>
              <a:rPr lang="it-IT">
                <a:ea typeface="+mn-lt"/>
                <a:cs typeface="+mn-lt"/>
              </a:rPr>
              <a:t> to prove the </a:t>
            </a:r>
            <a:r>
              <a:rPr lang="it-IT" err="1">
                <a:ea typeface="+mn-lt"/>
                <a:cs typeface="+mn-lt"/>
              </a:rPr>
              <a:t>strength</a:t>
            </a:r>
            <a:r>
              <a:rPr lang="it-IT">
                <a:ea typeface="+mn-lt"/>
                <a:cs typeface="+mn-lt"/>
              </a:rPr>
              <a:t> of </a:t>
            </a:r>
            <a:r>
              <a:rPr lang="it-IT" err="1">
                <a:ea typeface="+mn-lt"/>
                <a:cs typeface="+mn-lt"/>
              </a:rPr>
              <a:t>their</a:t>
            </a:r>
            <a:r>
              <a:rPr lang="it-IT">
                <a:ea typeface="+mn-lt"/>
                <a:cs typeface="+mn-lt"/>
              </a:rPr>
              <a:t> bond with </a:t>
            </a:r>
            <a:r>
              <a:rPr lang="it-IT" err="1">
                <a:ea typeface="+mn-lt"/>
                <a:cs typeface="+mn-lt"/>
              </a:rPr>
              <a:t>their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creatures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unlocking</a:t>
            </a:r>
            <a:r>
              <a:rPr lang="it-IT">
                <a:ea typeface="+mn-lt"/>
                <a:cs typeface="+mn-lt"/>
              </a:rPr>
              <a:t> spiritual energy to </a:t>
            </a:r>
            <a:r>
              <a:rPr lang="it-IT" err="1">
                <a:ea typeface="+mn-lt"/>
                <a:cs typeface="+mn-lt"/>
              </a:rPr>
              <a:t>fuel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their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attacks</a:t>
            </a:r>
            <a:r>
              <a:rPr lang="it-IT">
                <a:ea typeface="+mn-lt"/>
                <a:cs typeface="+mn-lt"/>
              </a:rPr>
              <a:t>.</a:t>
            </a:r>
          </a:p>
          <a:p>
            <a:r>
              <a:rPr lang="it-IT" b="1">
                <a:ea typeface="+mn-lt"/>
                <a:cs typeface="+mn-lt"/>
              </a:rPr>
              <a:t>Competitive </a:t>
            </a:r>
            <a:r>
              <a:rPr lang="it-IT" b="1" err="1">
                <a:ea typeface="+mn-lt"/>
                <a:cs typeface="+mn-lt"/>
              </a:rPr>
              <a:t>Drafting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Players build teams from a </a:t>
            </a:r>
            <a:r>
              <a:rPr lang="it-IT" b="1" err="1">
                <a:ea typeface="+mn-lt"/>
                <a:cs typeface="+mn-lt"/>
              </a:rPr>
              <a:t>shared</a:t>
            </a:r>
            <a:r>
              <a:rPr lang="it-IT" b="1">
                <a:ea typeface="+mn-lt"/>
                <a:cs typeface="+mn-lt"/>
              </a:rPr>
              <a:t> pool</a:t>
            </a:r>
            <a:r>
              <a:rPr lang="it-IT">
                <a:ea typeface="+mn-lt"/>
                <a:cs typeface="+mn-lt"/>
              </a:rPr>
              <a:t> of </a:t>
            </a:r>
            <a:r>
              <a:rPr lang="it-IT" err="1">
                <a:ea typeface="+mn-lt"/>
                <a:cs typeface="+mn-lt"/>
              </a:rPr>
              <a:t>monsters</a:t>
            </a:r>
            <a:r>
              <a:rPr lang="it-IT">
                <a:ea typeface="+mn-lt"/>
                <a:cs typeface="+mn-lt"/>
              </a:rPr>
              <a:t>. Once a </a:t>
            </a:r>
            <a:r>
              <a:rPr lang="it-IT" err="1">
                <a:ea typeface="+mn-lt"/>
                <a:cs typeface="+mn-lt"/>
              </a:rPr>
              <a:t>unit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picked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it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denied</a:t>
            </a:r>
            <a:r>
              <a:rPr lang="it-IT">
                <a:ea typeface="+mn-lt"/>
                <a:cs typeface="+mn-lt"/>
              </a:rPr>
              <a:t> to the </a:t>
            </a:r>
            <a:r>
              <a:rPr lang="it-IT" err="1">
                <a:ea typeface="+mn-lt"/>
                <a:cs typeface="+mn-lt"/>
              </a:rPr>
              <a:t>opponent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requiring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tactical</a:t>
            </a:r>
            <a:r>
              <a:rPr lang="it-IT">
                <a:ea typeface="+mn-lt"/>
                <a:cs typeface="+mn-lt"/>
              </a:rPr>
              <a:t> improvisation.</a:t>
            </a:r>
            <a:endParaRPr lang="it-IT"/>
          </a:p>
          <a:p>
            <a:r>
              <a:rPr lang="it-IT" b="1" err="1">
                <a:ea typeface="+mn-lt"/>
                <a:cs typeface="+mn-lt"/>
              </a:rPr>
              <a:t>Tactical</a:t>
            </a:r>
            <a:r>
              <a:rPr lang="it-IT" b="1">
                <a:ea typeface="+mn-lt"/>
                <a:cs typeface="+mn-lt"/>
              </a:rPr>
              <a:t> Depth:</a:t>
            </a:r>
            <a:r>
              <a:rPr lang="it-IT">
                <a:ea typeface="+mn-lt"/>
                <a:cs typeface="+mn-lt"/>
              </a:rPr>
              <a:t> Exploits </a:t>
            </a:r>
            <a:r>
              <a:rPr lang="it-IT" err="1">
                <a:ea typeface="+mn-lt"/>
                <a:cs typeface="+mn-lt"/>
              </a:rPr>
              <a:t>elemental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weaknesses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stats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buffs</a:t>
            </a:r>
            <a:r>
              <a:rPr lang="it-IT">
                <a:ea typeface="+mn-lt"/>
                <a:cs typeface="+mn-lt"/>
              </a:rPr>
              <a:t>, and </a:t>
            </a:r>
            <a:r>
              <a:rPr lang="it-IT" err="1">
                <a:ea typeface="+mn-lt"/>
                <a:cs typeface="+mn-lt"/>
              </a:rPr>
              <a:t>debuffs</a:t>
            </a:r>
            <a:r>
              <a:rPr lang="it-IT">
                <a:ea typeface="+mn-lt"/>
                <a:cs typeface="+mn-lt"/>
              </a:rPr>
              <a:t>.</a:t>
            </a:r>
          </a:p>
          <a:p>
            <a:r>
              <a:rPr lang="it-IT" b="1">
                <a:ea typeface="+mn-lt"/>
                <a:cs typeface="+mn-lt"/>
              </a:rPr>
              <a:t>Dynamic </a:t>
            </a:r>
            <a:r>
              <a:rPr lang="it-IT" b="1" err="1">
                <a:ea typeface="+mn-lt"/>
                <a:cs typeface="+mn-lt"/>
              </a:rPr>
              <a:t>Evolution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Unlike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traditional</a:t>
            </a:r>
            <a:r>
              <a:rPr lang="it-IT">
                <a:ea typeface="+mn-lt"/>
                <a:cs typeface="+mn-lt"/>
              </a:rPr>
              <a:t> games, </a:t>
            </a:r>
            <a:r>
              <a:rPr lang="it-IT" err="1">
                <a:ea typeface="+mn-lt"/>
                <a:cs typeface="+mn-lt"/>
              </a:rPr>
              <a:t>monsters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grow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b="1" err="1">
                <a:ea typeface="+mn-lt"/>
                <a:cs typeface="+mn-lt"/>
              </a:rPr>
              <a:t>during</a:t>
            </a:r>
            <a:r>
              <a:rPr lang="it-IT" b="1">
                <a:ea typeface="+mn-lt"/>
                <a:cs typeface="+mn-lt"/>
              </a:rPr>
              <a:t> </a:t>
            </a:r>
            <a:r>
              <a:rPr lang="it-IT" b="1" err="1">
                <a:ea typeface="+mn-lt"/>
                <a:cs typeface="+mn-lt"/>
              </a:rPr>
              <a:t>combat</a:t>
            </a:r>
            <a:r>
              <a:rPr lang="it-IT">
                <a:ea typeface="+mn-lt"/>
                <a:cs typeface="+mn-lt"/>
              </a:rPr>
              <a:t>. </a:t>
            </a:r>
            <a:r>
              <a:rPr lang="it-IT" err="1">
                <a:ea typeface="+mn-lt"/>
                <a:cs typeface="+mn-lt"/>
              </a:rPr>
              <a:t>As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battle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lengthens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moves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level</a:t>
            </a:r>
            <a:r>
              <a:rPr lang="it-IT">
                <a:ea typeface="+mn-lt"/>
                <a:cs typeface="+mn-lt"/>
              </a:rPr>
              <a:t> up and evolve to </a:t>
            </a:r>
            <a:r>
              <a:rPr lang="it-IT" err="1">
                <a:ea typeface="+mn-lt"/>
                <a:cs typeface="+mn-lt"/>
              </a:rPr>
              <a:t>unlock</a:t>
            </a:r>
            <a:r>
              <a:rPr lang="it-IT">
                <a:ea typeface="+mn-lt"/>
                <a:cs typeface="+mn-lt"/>
              </a:rPr>
              <a:t> ultimate </a:t>
            </a:r>
            <a:r>
              <a:rPr lang="it-IT" err="1">
                <a:ea typeface="+mn-lt"/>
                <a:cs typeface="+mn-lt"/>
              </a:rPr>
              <a:t>abilities</a:t>
            </a:r>
            <a:r>
              <a:rPr lang="it-IT">
                <a:ea typeface="+mn-lt"/>
                <a:cs typeface="+mn-lt"/>
              </a:rPr>
              <a:t>: </a:t>
            </a:r>
            <a:r>
              <a:rPr lang="it-IT" b="1" err="1">
                <a:ea typeface="+mn-lt"/>
                <a:cs typeface="+mn-lt"/>
              </a:rPr>
              <a:t>Moves</a:t>
            </a:r>
            <a:r>
              <a:rPr lang="it-IT" b="1">
                <a:ea typeface="+mn-lt"/>
                <a:cs typeface="+mn-lt"/>
              </a:rPr>
              <a:t> +</a:t>
            </a:r>
            <a:r>
              <a:rPr lang="it-IT">
                <a:ea typeface="+mn-lt"/>
                <a:cs typeface="+mn-lt"/>
              </a:rPr>
              <a:t>.</a:t>
            </a:r>
          </a:p>
          <a:p>
            <a:r>
              <a:rPr lang="it-IT" b="1" err="1">
                <a:ea typeface="+mn-lt"/>
                <a:cs typeface="+mn-lt"/>
              </a:rPr>
              <a:t>Win</a:t>
            </a:r>
            <a:r>
              <a:rPr lang="it-IT" b="1">
                <a:ea typeface="+mn-lt"/>
                <a:cs typeface="+mn-lt"/>
              </a:rPr>
              <a:t> </a:t>
            </a:r>
            <a:r>
              <a:rPr lang="it-IT" b="1" err="1">
                <a:ea typeface="+mn-lt"/>
                <a:cs typeface="+mn-lt"/>
              </a:rPr>
              <a:t>Condition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Defeat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opposing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team’s</a:t>
            </a:r>
            <a:r>
              <a:rPr lang="it-IT">
                <a:ea typeface="+mn-lt"/>
                <a:cs typeface="+mn-lt"/>
              </a:rPr>
              <a:t> lineup.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33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395F65-4F6A-5DFC-134C-A34572AE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0">
                <a:ea typeface="+mj-lt"/>
                <a:cs typeface="+mj-lt"/>
              </a:rPr>
              <a:t>Technical &amp; </a:t>
            </a:r>
            <a:r>
              <a:rPr lang="it-IT" b="0" err="1">
                <a:ea typeface="+mj-lt"/>
                <a:cs typeface="+mj-lt"/>
              </a:rPr>
              <a:t>Functional</a:t>
            </a:r>
            <a:r>
              <a:rPr lang="it-IT" b="0">
                <a:ea typeface="+mj-lt"/>
                <a:cs typeface="+mj-lt"/>
              </a:rPr>
              <a:t> </a:t>
            </a:r>
            <a:r>
              <a:rPr lang="it-IT" b="0" err="1">
                <a:ea typeface="+mj-lt"/>
                <a:cs typeface="+mj-lt"/>
              </a:rPr>
              <a:t>Requirements</a:t>
            </a:r>
            <a:endParaRPr lang="it-IT" err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AF600C-949A-9D52-4BB7-6C248456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76950"/>
            <a:ext cx="10653579" cy="490248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it-IT" sz="2400" b="1">
                <a:ea typeface="+mn-lt"/>
                <a:cs typeface="+mn-lt"/>
              </a:rPr>
              <a:t>Non-</a:t>
            </a:r>
            <a:r>
              <a:rPr lang="it-IT" sz="2400" b="1" err="1">
                <a:ea typeface="+mn-lt"/>
                <a:cs typeface="+mn-lt"/>
              </a:rPr>
              <a:t>Functional</a:t>
            </a:r>
            <a:r>
              <a:rPr lang="it-IT" sz="2400" b="1">
                <a:ea typeface="+mn-lt"/>
                <a:cs typeface="+mn-lt"/>
              </a:rPr>
              <a:t> (Performance &amp; UX)</a:t>
            </a:r>
            <a:endParaRPr lang="it-IT" sz="2400"/>
          </a:p>
          <a:p>
            <a:r>
              <a:rPr lang="it-IT" b="1" err="1">
                <a:ea typeface="+mn-lt"/>
                <a:cs typeface="+mn-lt"/>
              </a:rPr>
              <a:t>Aesthetics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8-bit pixel art style with a </a:t>
            </a:r>
            <a:r>
              <a:rPr lang="it-IT" err="1">
                <a:ea typeface="+mn-lt"/>
                <a:cs typeface="+mn-lt"/>
              </a:rPr>
              <a:t>minimalist</a:t>
            </a:r>
            <a:r>
              <a:rPr lang="it-IT">
                <a:ea typeface="+mn-lt"/>
                <a:cs typeface="+mn-lt"/>
              </a:rPr>
              <a:t> UI to </a:t>
            </a:r>
            <a:r>
              <a:rPr lang="it-IT" err="1">
                <a:ea typeface="+mn-lt"/>
                <a:cs typeface="+mn-lt"/>
              </a:rPr>
              <a:t>ensure</a:t>
            </a:r>
            <a:r>
              <a:rPr lang="it-IT">
                <a:ea typeface="+mn-lt"/>
                <a:cs typeface="+mn-lt"/>
              </a:rPr>
              <a:t> high </a:t>
            </a:r>
            <a:r>
              <a:rPr lang="it-IT" err="1">
                <a:ea typeface="+mn-lt"/>
                <a:cs typeface="+mn-lt"/>
              </a:rPr>
              <a:t>readability</a:t>
            </a:r>
            <a:r>
              <a:rPr lang="it-IT">
                <a:ea typeface="+mn-lt"/>
                <a:cs typeface="+mn-lt"/>
              </a:rPr>
              <a:t> of </a:t>
            </a:r>
            <a:r>
              <a:rPr lang="it-IT" err="1">
                <a:ea typeface="+mn-lt"/>
                <a:cs typeface="+mn-lt"/>
              </a:rPr>
              <a:t>essential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stats</a:t>
            </a:r>
            <a:r>
              <a:rPr lang="it-IT">
                <a:ea typeface="+mn-lt"/>
                <a:cs typeface="+mn-lt"/>
              </a:rPr>
              <a:t> (HP, Energy).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Performance Goals: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Stable</a:t>
            </a:r>
            <a:r>
              <a:rPr lang="it-IT">
                <a:ea typeface="+mn-lt"/>
                <a:cs typeface="+mn-lt"/>
              </a:rPr>
              <a:t> rendering </a:t>
            </a:r>
            <a:r>
              <a:rPr lang="it-IT" err="1">
                <a:ea typeface="+mn-lt"/>
                <a:cs typeface="+mn-lt"/>
              </a:rPr>
              <a:t>at</a:t>
            </a:r>
            <a:r>
              <a:rPr lang="it-IT">
                <a:ea typeface="+mn-lt"/>
                <a:cs typeface="+mn-lt"/>
              </a:rPr>
              <a:t> &gt;</a:t>
            </a:r>
            <a:r>
              <a:rPr lang="it-IT" b="1">
                <a:ea typeface="+mn-lt"/>
                <a:cs typeface="+mn-lt"/>
              </a:rPr>
              <a:t> 30 FPS</a:t>
            </a:r>
            <a:r>
              <a:rPr lang="it-IT">
                <a:ea typeface="+mn-lt"/>
                <a:cs typeface="+mn-lt"/>
              </a:rPr>
              <a:t> with low-</a:t>
            </a:r>
            <a:r>
              <a:rPr lang="it-IT" err="1">
                <a:ea typeface="+mn-lt"/>
                <a:cs typeface="+mn-lt"/>
              </a:rPr>
              <a:t>latency</a:t>
            </a:r>
            <a:r>
              <a:rPr lang="it-IT">
                <a:ea typeface="+mn-lt"/>
                <a:cs typeface="+mn-lt"/>
              </a:rPr>
              <a:t> input </a:t>
            </a:r>
            <a:r>
              <a:rPr lang="it-IT" err="1">
                <a:ea typeface="+mn-lt"/>
                <a:cs typeface="+mn-lt"/>
              </a:rPr>
              <a:t>response</a:t>
            </a:r>
            <a:r>
              <a:rPr lang="it-IT">
                <a:ea typeface="+mn-lt"/>
                <a:cs typeface="+mn-lt"/>
              </a:rPr>
              <a:t> (&lt;</a:t>
            </a:r>
            <a:r>
              <a:rPr lang="it-IT" b="1">
                <a:ea typeface="+mn-lt"/>
                <a:cs typeface="+mn-lt"/>
              </a:rPr>
              <a:t> 100ms</a:t>
            </a:r>
            <a:r>
              <a:rPr lang="it-IT">
                <a:ea typeface="+mn-lt"/>
                <a:cs typeface="+mn-lt"/>
              </a:rPr>
              <a:t>).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Accessibility:</a:t>
            </a:r>
            <a:r>
              <a:rPr lang="it-IT">
                <a:ea typeface="+mn-lt"/>
                <a:cs typeface="+mn-lt"/>
              </a:rPr>
              <a:t> Full </a:t>
            </a:r>
            <a:r>
              <a:rPr lang="it-IT" err="1">
                <a:ea typeface="+mn-lt"/>
                <a:cs typeface="+mn-lt"/>
              </a:rPr>
              <a:t>keyboard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navigation</a:t>
            </a:r>
            <a:r>
              <a:rPr lang="it-IT">
                <a:ea typeface="+mn-lt"/>
                <a:cs typeface="+mn-lt"/>
              </a:rPr>
              <a:t> and high-</a:t>
            </a:r>
            <a:r>
              <a:rPr lang="it-IT" err="1">
                <a:ea typeface="+mn-lt"/>
                <a:cs typeface="+mn-lt"/>
              </a:rPr>
              <a:t>contrast</a:t>
            </a:r>
            <a:r>
              <a:rPr lang="it-IT">
                <a:ea typeface="+mn-lt"/>
                <a:cs typeface="+mn-lt"/>
              </a:rPr>
              <a:t> color palettes for visual </a:t>
            </a:r>
            <a:r>
              <a:rPr lang="it-IT" err="1">
                <a:ea typeface="+mn-lt"/>
                <a:cs typeface="+mn-lt"/>
              </a:rPr>
              <a:t>clarity</a:t>
            </a:r>
            <a:r>
              <a:rPr lang="it-IT">
                <a:ea typeface="+mn-lt"/>
                <a:cs typeface="+mn-lt"/>
              </a:rPr>
              <a:t>.</a:t>
            </a:r>
            <a:endParaRPr lang="it-IT"/>
          </a:p>
          <a:p>
            <a:r>
              <a:rPr lang="it-IT" sz="2400" b="1" err="1">
                <a:ea typeface="+mn-lt"/>
                <a:cs typeface="+mn-lt"/>
              </a:rPr>
              <a:t>Functional</a:t>
            </a:r>
            <a:r>
              <a:rPr lang="it-IT" sz="2400" b="1">
                <a:ea typeface="+mn-lt"/>
                <a:cs typeface="+mn-lt"/>
              </a:rPr>
              <a:t> (The Core Loop)</a:t>
            </a:r>
            <a:endParaRPr lang="it-IT" sz="2400"/>
          </a:p>
          <a:p>
            <a:r>
              <a:rPr lang="it-IT" b="1" err="1">
                <a:ea typeface="+mn-lt"/>
                <a:cs typeface="+mn-lt"/>
              </a:rPr>
              <a:t>Implementation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Built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entirely</a:t>
            </a:r>
            <a:r>
              <a:rPr lang="it-IT">
                <a:ea typeface="+mn-lt"/>
                <a:cs typeface="+mn-lt"/>
              </a:rPr>
              <a:t> in </a:t>
            </a:r>
            <a:r>
              <a:rPr lang="it-IT" b="1" err="1">
                <a:ea typeface="+mn-lt"/>
                <a:cs typeface="+mn-lt"/>
              </a:rPr>
              <a:t>Pygame</a:t>
            </a:r>
            <a:r>
              <a:rPr lang="it-IT">
                <a:ea typeface="+mn-lt"/>
                <a:cs typeface="+mn-lt"/>
              </a:rPr>
              <a:t> (</a:t>
            </a:r>
            <a:r>
              <a:rPr lang="it-IT" err="1">
                <a:ea typeface="+mn-lt"/>
                <a:cs typeface="+mn-lt"/>
              </a:rPr>
              <a:t>handling</a:t>
            </a:r>
            <a:r>
              <a:rPr lang="it-IT">
                <a:ea typeface="+mn-lt"/>
                <a:cs typeface="+mn-lt"/>
              </a:rPr>
              <a:t> input, rendering, and game loop).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Combat System: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Sequential</a:t>
            </a:r>
            <a:r>
              <a:rPr lang="it-IT">
                <a:ea typeface="+mn-lt"/>
                <a:cs typeface="+mn-lt"/>
              </a:rPr>
              <a:t> turn-</a:t>
            </a:r>
            <a:r>
              <a:rPr lang="it-IT" err="1">
                <a:ea typeface="+mn-lt"/>
                <a:cs typeface="+mn-lt"/>
              </a:rPr>
              <a:t>based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logic</a:t>
            </a:r>
            <a:r>
              <a:rPr lang="it-IT">
                <a:ea typeface="+mn-lt"/>
                <a:cs typeface="+mn-lt"/>
              </a:rPr>
              <a:t>. Players alternate </a:t>
            </a:r>
            <a:r>
              <a:rPr lang="it-IT" err="1">
                <a:ea typeface="+mn-lt"/>
                <a:cs typeface="+mn-lt"/>
              </a:rPr>
              <a:t>between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b="1">
                <a:ea typeface="+mn-lt"/>
                <a:cs typeface="+mn-lt"/>
              </a:rPr>
              <a:t>Attack </a:t>
            </a:r>
            <a:r>
              <a:rPr lang="it-IT" b="1" err="1">
                <a:ea typeface="+mn-lt"/>
                <a:cs typeface="+mn-lt"/>
              </a:rPr>
              <a:t>phases</a:t>
            </a:r>
            <a:r>
              <a:rPr lang="it-IT">
                <a:ea typeface="+mn-lt"/>
                <a:cs typeface="+mn-lt"/>
              </a:rPr>
              <a:t> (</a:t>
            </a:r>
            <a:r>
              <a:rPr lang="it-IT" err="1">
                <a:ea typeface="+mn-lt"/>
                <a:cs typeface="+mn-lt"/>
              </a:rPr>
              <a:t>dealing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damage</a:t>
            </a:r>
            <a:r>
              <a:rPr lang="it-IT">
                <a:ea typeface="+mn-lt"/>
                <a:cs typeface="+mn-lt"/>
              </a:rPr>
              <a:t>/</a:t>
            </a:r>
            <a:r>
              <a:rPr lang="it-IT" err="1">
                <a:ea typeface="+mn-lt"/>
                <a:cs typeface="+mn-lt"/>
              </a:rPr>
              <a:t>buffing</a:t>
            </a:r>
            <a:r>
              <a:rPr lang="it-IT">
                <a:ea typeface="+mn-lt"/>
                <a:cs typeface="+mn-lt"/>
              </a:rPr>
              <a:t> via Power-Ups) and </a:t>
            </a:r>
            <a:r>
              <a:rPr lang="it-IT" b="1">
                <a:ea typeface="+mn-lt"/>
                <a:cs typeface="+mn-lt"/>
              </a:rPr>
              <a:t>Defense </a:t>
            </a:r>
            <a:r>
              <a:rPr lang="it-IT" b="1" err="1">
                <a:ea typeface="+mn-lt"/>
                <a:cs typeface="+mn-lt"/>
              </a:rPr>
              <a:t>phases</a:t>
            </a:r>
            <a:r>
              <a:rPr lang="it-IT">
                <a:ea typeface="+mn-lt"/>
                <a:cs typeface="+mn-lt"/>
              </a:rPr>
              <a:t> (</a:t>
            </a:r>
            <a:r>
              <a:rPr lang="it-IT" err="1">
                <a:ea typeface="+mn-lt"/>
                <a:cs typeface="+mn-lt"/>
              </a:rPr>
              <a:t>mitigation</a:t>
            </a:r>
            <a:r>
              <a:rPr lang="it-IT">
                <a:ea typeface="+mn-lt"/>
                <a:cs typeface="+mn-lt"/>
              </a:rPr>
              <a:t>/</a:t>
            </a:r>
            <a:r>
              <a:rPr lang="it-IT" err="1">
                <a:ea typeface="+mn-lt"/>
                <a:cs typeface="+mn-lt"/>
              </a:rPr>
              <a:t>taking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damage</a:t>
            </a:r>
            <a:r>
              <a:rPr lang="it-IT">
                <a:ea typeface="+mn-lt"/>
                <a:cs typeface="+mn-lt"/>
              </a:rPr>
              <a:t>).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Game State:</a:t>
            </a:r>
            <a:r>
              <a:rPr lang="it-IT">
                <a:ea typeface="+mn-lt"/>
                <a:cs typeface="+mn-lt"/>
              </a:rPr>
              <a:t> Real-time HP tracking leads to a </a:t>
            </a:r>
            <a:r>
              <a:rPr lang="it-IT" err="1">
                <a:ea typeface="+mn-lt"/>
                <a:cs typeface="+mn-lt"/>
              </a:rPr>
              <a:t>specific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b="1" err="1">
                <a:ea typeface="+mn-lt"/>
                <a:cs typeface="+mn-lt"/>
              </a:rPr>
              <a:t>Win</a:t>
            </a:r>
            <a:r>
              <a:rPr lang="it-IT" b="1">
                <a:ea typeface="+mn-lt"/>
                <a:cs typeface="+mn-lt"/>
              </a:rPr>
              <a:t> </a:t>
            </a:r>
            <a:r>
              <a:rPr lang="it-IT" b="1" err="1">
                <a:ea typeface="+mn-lt"/>
                <a:cs typeface="+mn-lt"/>
              </a:rPr>
              <a:t>Condition</a:t>
            </a:r>
            <a:r>
              <a:rPr lang="it-IT">
                <a:ea typeface="+mn-lt"/>
                <a:cs typeface="+mn-lt"/>
              </a:rPr>
              <a:t> (Zero HP = </a:t>
            </a:r>
            <a:r>
              <a:rPr lang="it-IT" err="1">
                <a:ea typeface="+mn-lt"/>
                <a:cs typeface="+mn-lt"/>
              </a:rPr>
              <a:t>Victory</a:t>
            </a:r>
            <a:r>
              <a:rPr lang="it-IT">
                <a:ea typeface="+mn-lt"/>
                <a:cs typeface="+mn-lt"/>
              </a:rPr>
              <a:t> Screen).</a:t>
            </a:r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839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FD0E0E-839C-6388-5312-AB924163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User stories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052095-CC6D-45B2-E471-1D1FF1869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55102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>
                <a:ea typeface="+mn-lt"/>
                <a:cs typeface="+mn-lt"/>
              </a:rPr>
              <a:t>Project Management &amp; Agile </a:t>
            </a:r>
            <a:r>
              <a:rPr lang="it-IT" b="1" err="1">
                <a:ea typeface="+mn-lt"/>
                <a:cs typeface="+mn-lt"/>
              </a:rPr>
              <a:t>Process</a:t>
            </a:r>
            <a:endParaRPr lang="it-IT" err="1"/>
          </a:p>
          <a:p>
            <a:r>
              <a:rPr lang="it-IT" b="1">
                <a:ea typeface="+mn-lt"/>
                <a:cs typeface="+mn-lt"/>
              </a:rPr>
              <a:t>Baseline Definition: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Identified</a:t>
            </a:r>
            <a:r>
              <a:rPr lang="it-IT">
                <a:ea typeface="+mn-lt"/>
                <a:cs typeface="+mn-lt"/>
              </a:rPr>
              <a:t> minimal User Stories for the MVP.</a:t>
            </a:r>
            <a:endParaRPr lang="it-IT"/>
          </a:p>
          <a:p>
            <a:r>
              <a:rPr lang="it-IT" b="1">
                <a:ea typeface="+mn-lt"/>
                <a:cs typeface="+mn-lt"/>
              </a:rPr>
              <a:t>Tracking: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Transitioned</a:t>
            </a:r>
            <a:r>
              <a:rPr lang="it-IT">
                <a:ea typeface="+mn-lt"/>
                <a:cs typeface="+mn-lt"/>
              </a:rPr>
              <a:t> from Excel to </a:t>
            </a:r>
            <a:r>
              <a:rPr lang="it-IT" b="1" err="1">
                <a:ea typeface="+mn-lt"/>
                <a:cs typeface="+mn-lt"/>
              </a:rPr>
              <a:t>Jira</a:t>
            </a:r>
            <a:r>
              <a:rPr lang="it-IT">
                <a:ea typeface="+mn-lt"/>
                <a:cs typeface="+mn-lt"/>
              </a:rPr>
              <a:t> for </a:t>
            </a:r>
            <a:r>
              <a:rPr lang="it-IT" err="1">
                <a:ea typeface="+mn-lt"/>
                <a:cs typeface="+mn-lt"/>
              </a:rPr>
              <a:t>advanced</a:t>
            </a:r>
            <a:r>
              <a:rPr lang="it-IT">
                <a:ea typeface="+mn-lt"/>
                <a:cs typeface="+mn-lt"/>
              </a:rPr>
              <a:t> ticket management.</a:t>
            </a:r>
            <a:endParaRPr lang="it-IT"/>
          </a:p>
          <a:p>
            <a:r>
              <a:rPr lang="it-IT" b="1" err="1">
                <a:ea typeface="+mn-lt"/>
                <a:cs typeface="+mn-lt"/>
              </a:rPr>
              <a:t>Estimation</a:t>
            </a:r>
            <a:r>
              <a:rPr lang="it-IT" b="1">
                <a:ea typeface="+mn-lt"/>
                <a:cs typeface="+mn-lt"/>
              </a:rPr>
              <a:t>:</a:t>
            </a:r>
            <a:r>
              <a:rPr lang="it-IT">
                <a:ea typeface="+mn-lt"/>
                <a:cs typeface="+mn-lt"/>
              </a:rPr>
              <a:t> Applied </a:t>
            </a:r>
            <a:r>
              <a:rPr lang="it-IT" b="1">
                <a:ea typeface="+mn-lt"/>
                <a:cs typeface="+mn-lt"/>
              </a:rPr>
              <a:t>Planning Poker</a:t>
            </a:r>
            <a:r>
              <a:rPr lang="it-IT">
                <a:ea typeface="+mn-lt"/>
                <a:cs typeface="+mn-lt"/>
              </a:rPr>
              <a:t> to </a:t>
            </a:r>
            <a:r>
              <a:rPr lang="it-IT" err="1">
                <a:ea typeface="+mn-lt"/>
                <a:cs typeface="+mn-lt"/>
              </a:rPr>
              <a:t>assess</a:t>
            </a:r>
            <a:r>
              <a:rPr lang="it-IT">
                <a:ea typeface="+mn-lt"/>
                <a:cs typeface="+mn-lt"/>
              </a:rPr>
              <a:t> story </a:t>
            </a:r>
            <a:r>
              <a:rPr lang="it-IT" err="1">
                <a:ea typeface="+mn-lt"/>
                <a:cs typeface="+mn-lt"/>
              </a:rPr>
              <a:t>complexity</a:t>
            </a:r>
            <a:r>
              <a:rPr lang="it-IT">
                <a:ea typeface="+mn-lt"/>
                <a:cs typeface="+mn-lt"/>
              </a:rPr>
              <a:t>.</a:t>
            </a:r>
            <a:endParaRPr lang="it-IT"/>
          </a:p>
          <a:p>
            <a:endParaRPr lang="it-IT"/>
          </a:p>
        </p:txBody>
      </p:sp>
      <p:pic>
        <p:nvPicPr>
          <p:cNvPr id="4" name="Immagine 3" descr="Immagine che contiene testo, schermata, diagramm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8CF469D0-1892-C217-3B97-08BD52741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54" y="3530279"/>
            <a:ext cx="4084802" cy="2970836"/>
          </a:xfrm>
          <a:prstGeom prst="rect">
            <a:avLst/>
          </a:prstGeom>
        </p:spPr>
      </p:pic>
      <p:pic>
        <p:nvPicPr>
          <p:cNvPr id="6" name="Immagine 5" descr="Immagine che contiene testo, schermata, diagramm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200F5D7B-6DE8-8C97-9D7F-0CDCF8865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674" y="3530277"/>
            <a:ext cx="4079259" cy="2970837"/>
          </a:xfrm>
          <a:prstGeom prst="rect">
            <a:avLst/>
          </a:prstGeom>
        </p:spPr>
      </p:pic>
      <p:pic>
        <p:nvPicPr>
          <p:cNvPr id="5" name="Elemento grafico 4" descr="Faccina piangente con riempimento a tinta unita">
            <a:extLst>
              <a:ext uri="{FF2B5EF4-FFF2-40B4-BE49-F238E27FC236}">
                <a16:creationId xmlns:a16="http://schemas.microsoft.com/office/drawing/2014/main" id="{73266683-5EB8-84D6-95E2-554C6392B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5003" y="3531243"/>
            <a:ext cx="914400" cy="914400"/>
          </a:xfrm>
          <a:prstGeom prst="rect">
            <a:avLst/>
          </a:prstGeom>
        </p:spPr>
      </p:pic>
      <p:pic>
        <p:nvPicPr>
          <p:cNvPr id="7" name="Elemento grafico 6" descr="Faccia con occhiali da sole con riempimento a tinta unita con riempimento a tinta unita">
            <a:extLst>
              <a:ext uri="{FF2B5EF4-FFF2-40B4-BE49-F238E27FC236}">
                <a16:creationId xmlns:a16="http://schemas.microsoft.com/office/drawing/2014/main" id="{720535F6-28D3-A03F-4615-3E37F6842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67725" y="35337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3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36998C-D2A2-C955-DFF1-8FDF928AA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2A18F03-CC7B-2FB0-F7F4-C35F3A3F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872216" cy="1572768"/>
          </a:xfrm>
        </p:spPr>
        <p:txBody>
          <a:bodyPr anchor="b">
            <a:normAutofit/>
          </a:bodyPr>
          <a:lstStyle/>
          <a:p>
            <a:r>
              <a:rPr lang="it-IT" err="1"/>
              <a:t>Sequence</a:t>
            </a:r>
            <a:r>
              <a:rPr lang="it-IT"/>
              <a:t> </a:t>
            </a:r>
            <a:r>
              <a:rPr lang="it-IT" err="1"/>
              <a:t>Diagram</a:t>
            </a:r>
          </a:p>
        </p:txBody>
      </p:sp>
      <p:pic>
        <p:nvPicPr>
          <p:cNvPr id="5" name="Immagine 4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B8336A78-E5C6-174D-B7E8-68014C07D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352" y="851631"/>
            <a:ext cx="1889227" cy="2147080"/>
          </a:xfrm>
          <a:prstGeom prst="rect">
            <a:avLst/>
          </a:prstGeom>
        </p:spPr>
      </p:pic>
      <p:pic>
        <p:nvPicPr>
          <p:cNvPr id="4" name="Immagine 3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CA92E170-5A29-CC3D-CABB-6E3819F72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758" y="3933291"/>
            <a:ext cx="1872592" cy="2378575"/>
          </a:xfrm>
          <a:prstGeom prst="rect">
            <a:avLst/>
          </a:prstGeom>
        </p:spPr>
      </p:pic>
      <p:pic>
        <p:nvPicPr>
          <p:cNvPr id="6" name="Immagine 5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BFD8912-55F3-D93B-DB0D-BF3740086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837" y="79984"/>
            <a:ext cx="3430920" cy="6231882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61555E-0145-6FB1-511B-AB0560144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35" y="2312930"/>
            <a:ext cx="5465063" cy="39410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1800">
                <a:ea typeface="+mn-lt"/>
                <a:cs typeface="+mn-lt"/>
              </a:rPr>
              <a:t>We realiazed some sequence diagram for choosen US. </a:t>
            </a:r>
            <a:endParaRPr lang="it-IT" sz="1800"/>
          </a:p>
          <a:p>
            <a:r>
              <a:rPr lang="it-IT" sz="1800">
                <a:ea typeface="+mn-lt"/>
                <a:cs typeface="+mn-lt"/>
              </a:rPr>
              <a:t>We used the website sequencediagram.org that through a particulay syntax is able to develop and create diagrams.</a:t>
            </a:r>
          </a:p>
          <a:p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362698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8D121-DA17-690A-B3BE-8EDBECDC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Sprint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43F958-BB72-1D79-4C40-052C94F9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decided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first sprint </a:t>
            </a:r>
            <a:r>
              <a:rPr lang="it-IT" dirty="0" err="1"/>
              <a:t>lenght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be 2 weeks long.</a:t>
            </a:r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chose</a:t>
            </a:r>
            <a:r>
              <a:rPr lang="it-IT" dirty="0"/>
              <a:t> 10 US and </a:t>
            </a:r>
            <a:r>
              <a:rPr lang="it-IT" dirty="0" err="1"/>
              <a:t>completed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 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their</a:t>
            </a:r>
            <a:r>
              <a:rPr lang="it-IT" dirty="0"/>
              <a:t> </a:t>
            </a:r>
            <a:r>
              <a:rPr lang="it-IT" dirty="0" err="1"/>
              <a:t>Acceptance</a:t>
            </a:r>
            <a:r>
              <a:rPr lang="it-IT" dirty="0"/>
              <a:t> </a:t>
            </a:r>
            <a:r>
              <a:rPr lang="it-IT" dirty="0" err="1"/>
              <a:t>criteria</a:t>
            </a:r>
            <a:r>
              <a:rPr lang="it-IT" dirty="0"/>
              <a:t> (AC). </a:t>
            </a:r>
          </a:p>
        </p:txBody>
      </p:sp>
      <p:pic>
        <p:nvPicPr>
          <p:cNvPr id="4" name="Immagine 3" descr="Immagine che contiene testo, schermata, numero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DFF98089-9FC6-60BD-C4D5-6C5DF6628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0" y="2842850"/>
            <a:ext cx="9539107" cy="34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4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483FE-9C0D-9E73-8B4E-790DC60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Design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DD34E8-B0E8-378A-4659-9713EF272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designed</a:t>
            </a:r>
            <a:r>
              <a:rPr lang="it-IT" dirty="0"/>
              <a:t> some test to </a:t>
            </a:r>
            <a:r>
              <a:rPr lang="it-IT" dirty="0" err="1"/>
              <a:t>assess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work.</a:t>
            </a:r>
          </a:p>
          <a:p>
            <a:r>
              <a:rPr lang="it-IT" dirty="0" err="1"/>
              <a:t>Later</a:t>
            </a:r>
            <a:r>
              <a:rPr lang="it-IT" dirty="0"/>
              <a:t> in the </a:t>
            </a:r>
            <a:r>
              <a:rPr lang="it-IT" dirty="0" err="1"/>
              <a:t>development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checked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the test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successful</a:t>
            </a:r>
          </a:p>
        </p:txBody>
      </p:sp>
      <p:pic>
        <p:nvPicPr>
          <p:cNvPr id="4" name="Immagine 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FD69F3F9-DBC8-2B7F-779E-5C99A783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78" y="2964747"/>
            <a:ext cx="80391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2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97C1E-8B93-FBE0-68EE-2D480112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Patterns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2364B2-81E9-B878-3A4B-C1DF5BBA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ea typeface="+mn-lt"/>
                <a:cs typeface="+mn-lt"/>
              </a:rPr>
              <a:t>Structural</a:t>
            </a:r>
            <a:r>
              <a:rPr lang="it-IT" sz="1400" b="1" dirty="0">
                <a:ea typeface="+mn-lt"/>
                <a:cs typeface="+mn-lt"/>
              </a:rPr>
              <a:t> &amp; State Management</a:t>
            </a:r>
            <a:endParaRPr lang="it-IT" sz="1400"/>
          </a:p>
          <a:p>
            <a:r>
              <a:rPr lang="it-IT" sz="1400" b="1" dirty="0">
                <a:ea typeface="+mn-lt"/>
                <a:cs typeface="+mn-lt"/>
              </a:rPr>
              <a:t>Singleton:</a:t>
            </a:r>
            <a:r>
              <a:rPr lang="it-IT" sz="1400" dirty="0">
                <a:ea typeface="+mn-lt"/>
                <a:cs typeface="+mn-lt"/>
              </a:rPr>
              <a:t> The </a:t>
            </a:r>
            <a:r>
              <a:rPr lang="it-IT" sz="1400" dirty="0">
                <a:latin typeface="Consolas"/>
              </a:rPr>
              <a:t>Game</a:t>
            </a:r>
            <a:r>
              <a:rPr lang="it-IT" sz="1400" dirty="0">
                <a:ea typeface="+mn-lt"/>
                <a:cs typeface="+mn-lt"/>
              </a:rPr>
              <a:t> class acts </a:t>
            </a:r>
            <a:r>
              <a:rPr lang="it-IT" sz="1400" err="1">
                <a:ea typeface="+mn-lt"/>
                <a:cs typeface="+mn-lt"/>
              </a:rPr>
              <a:t>as</a:t>
            </a:r>
            <a:r>
              <a:rPr lang="it-IT" sz="1400" dirty="0">
                <a:ea typeface="+mn-lt"/>
                <a:cs typeface="+mn-lt"/>
              </a:rPr>
              <a:t> the </a:t>
            </a:r>
            <a:r>
              <a:rPr lang="it-IT" sz="1400" err="1">
                <a:ea typeface="+mn-lt"/>
                <a:cs typeface="+mn-lt"/>
              </a:rPr>
              <a:t>central</a:t>
            </a:r>
            <a:r>
              <a:rPr lang="it-IT" sz="1400" dirty="0">
                <a:ea typeface="+mn-lt"/>
                <a:cs typeface="+mn-lt"/>
              </a:rPr>
              <a:t> point of access for global state.</a:t>
            </a:r>
            <a:endParaRPr lang="it-IT" sz="1400"/>
          </a:p>
          <a:p>
            <a:r>
              <a:rPr lang="it-IT" sz="1400" b="1" err="1">
                <a:ea typeface="+mn-lt"/>
                <a:cs typeface="+mn-lt"/>
              </a:rPr>
              <a:t>Facade</a:t>
            </a:r>
            <a:r>
              <a:rPr lang="it-IT" sz="1400" b="1" dirty="0">
                <a:ea typeface="+mn-lt"/>
                <a:cs typeface="+mn-lt"/>
              </a:rPr>
              <a:t>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>
                <a:latin typeface="Consolas"/>
              </a:rPr>
              <a:t>Game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provides</a:t>
            </a:r>
            <a:r>
              <a:rPr lang="it-IT" sz="1400" dirty="0">
                <a:ea typeface="+mn-lt"/>
                <a:cs typeface="+mn-lt"/>
              </a:rPr>
              <a:t> a </a:t>
            </a:r>
            <a:r>
              <a:rPr lang="it-IT" sz="1400" err="1">
                <a:ea typeface="+mn-lt"/>
                <a:cs typeface="+mn-lt"/>
              </a:rPr>
              <a:t>simplified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interface</a:t>
            </a:r>
            <a:r>
              <a:rPr lang="it-IT" sz="1400" dirty="0">
                <a:ea typeface="+mn-lt"/>
                <a:cs typeface="+mn-lt"/>
              </a:rPr>
              <a:t> to coordinate Monsters, Turns, and UI.</a:t>
            </a:r>
            <a:endParaRPr lang="it-IT" sz="1400"/>
          </a:p>
          <a:p>
            <a:r>
              <a:rPr lang="it-IT" sz="1400" b="1" dirty="0">
                <a:ea typeface="+mn-lt"/>
                <a:cs typeface="+mn-lt"/>
              </a:rPr>
              <a:t>State: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Dynamically</a:t>
            </a:r>
            <a:r>
              <a:rPr lang="it-IT" sz="1400" dirty="0">
                <a:ea typeface="+mn-lt"/>
                <a:cs typeface="+mn-lt"/>
              </a:rPr>
              <a:t> handles menu </a:t>
            </a:r>
            <a:r>
              <a:rPr lang="it-IT" sz="1400" err="1">
                <a:ea typeface="+mn-lt"/>
                <a:cs typeface="+mn-lt"/>
              </a:rPr>
              <a:t>transitions</a:t>
            </a:r>
            <a:r>
              <a:rPr lang="it-IT" sz="1400" dirty="0">
                <a:ea typeface="+mn-lt"/>
                <a:cs typeface="+mn-lt"/>
              </a:rPr>
              <a:t> and layout </a:t>
            </a:r>
            <a:r>
              <a:rPr lang="it-IT" sz="1400" err="1">
                <a:ea typeface="+mn-lt"/>
                <a:cs typeface="+mn-lt"/>
              </a:rPr>
              <a:t>changes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based</a:t>
            </a:r>
            <a:r>
              <a:rPr lang="it-IT" sz="1400" dirty="0">
                <a:ea typeface="+mn-lt"/>
                <a:cs typeface="+mn-lt"/>
              </a:rPr>
              <a:t> on the game </a:t>
            </a:r>
            <a:r>
              <a:rPr lang="it-IT" sz="1400" err="1">
                <a:ea typeface="+mn-lt"/>
                <a:cs typeface="+mn-lt"/>
              </a:rPr>
              <a:t>phase</a:t>
            </a:r>
            <a:r>
              <a:rPr lang="it-IT" sz="1400" dirty="0">
                <a:ea typeface="+mn-lt"/>
                <a:cs typeface="+mn-lt"/>
              </a:rPr>
              <a:t>.</a:t>
            </a:r>
            <a:endParaRPr lang="it-IT" sz="1400"/>
          </a:p>
          <a:p>
            <a:r>
              <a:rPr lang="it-IT" sz="1400" b="1" err="1">
                <a:ea typeface="+mn-lt"/>
                <a:cs typeface="+mn-lt"/>
              </a:rPr>
              <a:t>Flyweight</a:t>
            </a:r>
            <a:r>
              <a:rPr lang="it-IT" sz="1400" b="1" dirty="0">
                <a:ea typeface="+mn-lt"/>
                <a:cs typeface="+mn-lt"/>
              </a:rPr>
              <a:t>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Optimizes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memory</a:t>
            </a:r>
            <a:r>
              <a:rPr lang="it-IT" sz="1400" dirty="0">
                <a:ea typeface="+mn-lt"/>
                <a:cs typeface="+mn-lt"/>
              </a:rPr>
              <a:t> by sharing common data </a:t>
            </a:r>
            <a:r>
              <a:rPr lang="it-IT" sz="1400" err="1">
                <a:ea typeface="+mn-lt"/>
                <a:cs typeface="+mn-lt"/>
              </a:rPr>
              <a:t>across</a:t>
            </a:r>
            <a:r>
              <a:rPr lang="it-IT" sz="1400" dirty="0">
                <a:ea typeface="+mn-lt"/>
                <a:cs typeface="+mn-lt"/>
              </a:rPr>
              <a:t> multiple </a:t>
            </a:r>
            <a:r>
              <a:rPr lang="it-IT" sz="1400" err="1">
                <a:ea typeface="+mn-lt"/>
                <a:cs typeface="+mn-lt"/>
              </a:rPr>
              <a:t>Move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instances</a:t>
            </a:r>
            <a:r>
              <a:rPr lang="it-IT" sz="1400" dirty="0">
                <a:ea typeface="+mn-lt"/>
                <a:cs typeface="+mn-lt"/>
              </a:rPr>
              <a:t>.</a:t>
            </a:r>
            <a:endParaRPr lang="it-IT" sz="1400" dirty="0"/>
          </a:p>
          <a:p>
            <a:pPr marL="0" indent="0">
              <a:buNone/>
            </a:pPr>
            <a:r>
              <a:rPr lang="it-IT" sz="1400" b="1" err="1">
                <a:ea typeface="+mn-lt"/>
                <a:cs typeface="+mn-lt"/>
              </a:rPr>
              <a:t>Behavior</a:t>
            </a:r>
            <a:r>
              <a:rPr lang="it-IT" sz="1400" b="1" dirty="0">
                <a:ea typeface="+mn-lt"/>
                <a:cs typeface="+mn-lt"/>
              </a:rPr>
              <a:t> &amp; </a:t>
            </a:r>
            <a:r>
              <a:rPr lang="it-IT" sz="1400" b="1" err="1">
                <a:ea typeface="+mn-lt"/>
                <a:cs typeface="+mn-lt"/>
              </a:rPr>
              <a:t>Logic</a:t>
            </a:r>
            <a:endParaRPr lang="it-IT" sz="1400" err="1"/>
          </a:p>
          <a:p>
            <a:r>
              <a:rPr lang="it-IT" sz="1400" b="1" dirty="0">
                <a:ea typeface="+mn-lt"/>
                <a:cs typeface="+mn-lt"/>
              </a:rPr>
              <a:t>Strategy: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Allows</a:t>
            </a:r>
            <a:r>
              <a:rPr lang="it-IT" sz="1400" dirty="0">
                <a:ea typeface="+mn-lt"/>
                <a:cs typeface="+mn-lt"/>
              </a:rPr>
              <a:t> swapping </a:t>
            </a:r>
            <a:r>
              <a:rPr lang="it-IT" sz="1400" dirty="0" err="1">
                <a:ea typeface="+mn-lt"/>
                <a:cs typeface="+mn-lt"/>
              </a:rPr>
              <a:t>monster</a:t>
            </a:r>
            <a:r>
              <a:rPr lang="it-IT" sz="1400" dirty="0">
                <a:ea typeface="+mn-lt"/>
                <a:cs typeface="+mn-lt"/>
              </a:rPr>
              <a:t> actions and </a:t>
            </a:r>
            <a:r>
              <a:rPr lang="it-IT" sz="1400" dirty="0" err="1">
                <a:ea typeface="+mn-lt"/>
                <a:cs typeface="+mn-lt"/>
              </a:rPr>
              <a:t>button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behaviors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at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runtime</a:t>
            </a:r>
            <a:r>
              <a:rPr lang="it-IT" sz="1400" dirty="0">
                <a:ea typeface="+mn-lt"/>
                <a:cs typeface="+mn-lt"/>
              </a:rPr>
              <a:t>.</a:t>
            </a:r>
            <a:endParaRPr lang="it-IT" sz="1400" dirty="0"/>
          </a:p>
          <a:p>
            <a:r>
              <a:rPr lang="it-IT" sz="1400" b="1" err="1">
                <a:ea typeface="+mn-lt"/>
                <a:cs typeface="+mn-lt"/>
              </a:rPr>
              <a:t>Command</a:t>
            </a:r>
            <a:r>
              <a:rPr lang="it-IT" sz="1400" b="1" dirty="0">
                <a:ea typeface="+mn-lt"/>
                <a:cs typeface="+mn-lt"/>
              </a:rPr>
              <a:t>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Encapsulates</a:t>
            </a:r>
            <a:r>
              <a:rPr lang="it-IT" sz="1400" dirty="0">
                <a:ea typeface="+mn-lt"/>
                <a:cs typeface="+mn-lt"/>
              </a:rPr>
              <a:t> UI </a:t>
            </a:r>
            <a:r>
              <a:rPr lang="it-IT" sz="1400" err="1">
                <a:ea typeface="+mn-lt"/>
                <a:cs typeface="+mn-lt"/>
              </a:rPr>
              <a:t>logic</a:t>
            </a:r>
            <a:r>
              <a:rPr lang="it-IT" sz="1400" dirty="0">
                <a:ea typeface="+mn-lt"/>
                <a:cs typeface="+mn-lt"/>
              </a:rPr>
              <a:t>; </a:t>
            </a:r>
            <a:r>
              <a:rPr lang="it-IT" sz="1400" err="1">
                <a:ea typeface="+mn-lt"/>
                <a:cs typeface="+mn-lt"/>
              </a:rPr>
              <a:t>buttons</a:t>
            </a:r>
            <a:r>
              <a:rPr lang="it-IT" sz="1400" dirty="0">
                <a:ea typeface="+mn-lt"/>
                <a:cs typeface="+mn-lt"/>
              </a:rPr>
              <a:t> trigger </a:t>
            </a:r>
            <a:r>
              <a:rPr lang="it-IT" sz="1400" err="1">
                <a:ea typeface="+mn-lt"/>
                <a:cs typeface="+mn-lt"/>
              </a:rPr>
              <a:t>specific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operations</a:t>
            </a:r>
            <a:r>
              <a:rPr lang="it-IT" sz="1400" dirty="0">
                <a:ea typeface="+mn-lt"/>
                <a:cs typeface="+mn-lt"/>
              </a:rPr>
              <a:t> via an </a:t>
            </a:r>
            <a:r>
              <a:rPr lang="it-IT" sz="1400" err="1">
                <a:latin typeface="Consolas"/>
              </a:rPr>
              <a:t>execute</a:t>
            </a:r>
            <a:r>
              <a:rPr lang="it-IT" sz="1400" dirty="0">
                <a:latin typeface="Consolas"/>
              </a:rPr>
              <a:t>()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err="1">
                <a:ea typeface="+mn-lt"/>
                <a:cs typeface="+mn-lt"/>
              </a:rPr>
              <a:t>method</a:t>
            </a:r>
            <a:r>
              <a:rPr lang="it-IT" sz="1400" dirty="0">
                <a:ea typeface="+mn-lt"/>
                <a:cs typeface="+mn-lt"/>
              </a:rPr>
              <a:t>.</a:t>
            </a:r>
            <a:endParaRPr lang="it-IT" sz="1400" dirty="0"/>
          </a:p>
          <a:p>
            <a:pPr marL="0" indent="0">
              <a:buNone/>
            </a:pPr>
            <a:r>
              <a:rPr lang="it-IT" sz="1400" b="1" dirty="0" err="1">
                <a:ea typeface="+mn-lt"/>
                <a:cs typeface="+mn-lt"/>
              </a:rPr>
              <a:t>Creational</a:t>
            </a:r>
            <a:r>
              <a:rPr lang="it-IT" sz="1400" b="1" dirty="0">
                <a:ea typeface="+mn-lt"/>
                <a:cs typeface="+mn-lt"/>
              </a:rPr>
              <a:t> Pattern</a:t>
            </a:r>
            <a:endParaRPr lang="it-IT" sz="1400" b="1" dirty="0"/>
          </a:p>
          <a:p>
            <a:r>
              <a:rPr lang="it-IT" sz="1400" b="1" dirty="0" err="1">
                <a:ea typeface="+mn-lt"/>
                <a:cs typeface="+mn-lt"/>
              </a:rPr>
              <a:t>Factory</a:t>
            </a:r>
            <a:r>
              <a:rPr lang="it-IT" sz="1400" b="1" dirty="0">
                <a:ea typeface="+mn-lt"/>
                <a:cs typeface="+mn-lt"/>
              </a:rPr>
              <a:t> Method: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Decouples</a:t>
            </a:r>
            <a:r>
              <a:rPr lang="it-IT" sz="1400" dirty="0">
                <a:ea typeface="+mn-lt"/>
                <a:cs typeface="+mn-lt"/>
              </a:rPr>
              <a:t> the </a:t>
            </a:r>
            <a:r>
              <a:rPr lang="it-IT" sz="1400" dirty="0" err="1">
                <a:ea typeface="+mn-lt"/>
                <a:cs typeface="+mn-lt"/>
              </a:rPr>
              <a:t>creation</a:t>
            </a:r>
            <a:r>
              <a:rPr lang="it-IT" sz="1400" dirty="0">
                <a:ea typeface="+mn-lt"/>
                <a:cs typeface="+mn-lt"/>
              </a:rPr>
              <a:t> </a:t>
            </a:r>
            <a:r>
              <a:rPr lang="it-IT" sz="1400" dirty="0" err="1">
                <a:ea typeface="+mn-lt"/>
                <a:cs typeface="+mn-lt"/>
              </a:rPr>
              <a:t>logic</a:t>
            </a:r>
            <a:r>
              <a:rPr lang="it-IT" sz="1400" dirty="0">
                <a:ea typeface="+mn-lt"/>
                <a:cs typeface="+mn-lt"/>
              </a:rPr>
              <a:t> for Monsters, </a:t>
            </a:r>
            <a:r>
              <a:rPr lang="it-IT" sz="1400" dirty="0" err="1">
                <a:ea typeface="+mn-lt"/>
                <a:cs typeface="+mn-lt"/>
              </a:rPr>
              <a:t>Moves</a:t>
            </a:r>
            <a:r>
              <a:rPr lang="it-IT" sz="1400" dirty="0">
                <a:ea typeface="+mn-lt"/>
                <a:cs typeface="+mn-lt"/>
              </a:rPr>
              <a:t>, and </a:t>
            </a:r>
            <a:r>
              <a:rPr lang="it-IT" sz="1400" dirty="0" err="1">
                <a:ea typeface="+mn-lt"/>
                <a:cs typeface="+mn-lt"/>
              </a:rPr>
              <a:t>Buttons</a:t>
            </a:r>
            <a:r>
              <a:rPr lang="it-IT" sz="1400" dirty="0">
                <a:ea typeface="+mn-lt"/>
                <a:cs typeface="+mn-lt"/>
              </a:rPr>
              <a:t> from the </a:t>
            </a:r>
            <a:r>
              <a:rPr lang="it-IT" sz="1400" dirty="0" err="1">
                <a:ea typeface="+mn-lt"/>
                <a:cs typeface="+mn-lt"/>
              </a:rPr>
              <a:t>main</a:t>
            </a:r>
            <a:r>
              <a:rPr lang="it-IT" sz="1400" dirty="0">
                <a:ea typeface="+mn-lt"/>
                <a:cs typeface="+mn-lt"/>
              </a:rPr>
              <a:t> code.</a:t>
            </a:r>
            <a:endParaRPr lang="it-IT" dirty="0"/>
          </a:p>
          <a:p>
            <a:pPr marL="0" indent="0">
              <a:buNone/>
            </a:pP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54525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A0318B7-5481-D51D-9179-AB6DFF8E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it-IT" dirty="0" err="1"/>
              <a:t>Versioning</a:t>
            </a:r>
            <a:r>
              <a:rPr lang="it-IT" dirty="0"/>
              <a:t> Control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E421B3-24B3-D6CC-5D71-6A2845E62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it-IT" sz="1400" b="1"/>
              <a:t>Workflow Management (Git)</a:t>
            </a:r>
            <a:endParaRPr lang="it-IT" sz="1400"/>
          </a:p>
          <a:p>
            <a:pPr marL="228600" indent="-228600">
              <a:lnSpc>
                <a:spcPct val="110000"/>
              </a:lnSpc>
              <a:buFont typeface=""/>
              <a:buChar char="•"/>
            </a:pPr>
            <a:r>
              <a:rPr lang="it-IT" sz="1400" b="1"/>
              <a:t>Source Control:</a:t>
            </a:r>
            <a:r>
              <a:rPr lang="it-IT" sz="1400"/>
              <a:t> Used Git to track all code changes and maintain version history.</a:t>
            </a:r>
          </a:p>
          <a:p>
            <a:pPr marL="228600" indent="-228600">
              <a:lnSpc>
                <a:spcPct val="110000"/>
              </a:lnSpc>
              <a:buFont typeface=""/>
              <a:buChar char="•"/>
            </a:pPr>
            <a:r>
              <a:rPr lang="it-IT" sz="1400" b="1"/>
              <a:t>Collaboration:</a:t>
            </a:r>
            <a:r>
              <a:rPr lang="it-IT" sz="1400"/>
              <a:t> Facilitated a distributed workflow, allowing the team to work in parallel and split the workload efficiently.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it-IT" sz="1400" b="1">
                <a:ea typeface="+mn-lt"/>
                <a:cs typeface="+mn-lt"/>
              </a:rPr>
              <a:t>Repository Hosting (GitHub)</a:t>
            </a:r>
            <a:endParaRPr lang="it-IT" sz="140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it-IT" sz="1400" b="1">
                <a:ea typeface="+mn-lt"/>
                <a:cs typeface="+mn-lt"/>
              </a:rPr>
              <a:t>Remote Storage:</a:t>
            </a:r>
            <a:r>
              <a:rPr lang="it-IT" sz="1400">
                <a:ea typeface="+mn-lt"/>
                <a:cs typeface="+mn-lt"/>
              </a:rPr>
              <a:t> The project is hosted on </a:t>
            </a:r>
            <a:r>
              <a:rPr lang="it-IT" sz="1400" b="1">
                <a:ea typeface="+mn-lt"/>
                <a:cs typeface="+mn-lt"/>
              </a:rPr>
              <a:t>GitHub</a:t>
            </a:r>
            <a:r>
              <a:rPr lang="it-IT" sz="1400">
                <a:ea typeface="+mn-lt"/>
                <a:cs typeface="+mn-lt"/>
              </a:rPr>
              <a:t>.</a:t>
            </a:r>
            <a:endParaRPr lang="it-IT" sz="140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it-IT" sz="1400" b="1">
                <a:ea typeface="+mn-lt"/>
                <a:cs typeface="+mn-lt"/>
              </a:rPr>
              <a:t>Visibility:</a:t>
            </a:r>
            <a:r>
              <a:rPr lang="it-IT" sz="1400">
                <a:ea typeface="+mn-lt"/>
                <a:cs typeface="+mn-lt"/>
              </a:rPr>
              <a:t> The repository is public, allowing for open access and code review.</a:t>
            </a:r>
            <a:endParaRPr lang="it-IT" sz="1400"/>
          </a:p>
          <a:p>
            <a:pPr>
              <a:lnSpc>
                <a:spcPct val="110000"/>
              </a:lnSpc>
              <a:buFont typeface=""/>
              <a:buChar char="•"/>
            </a:pPr>
            <a:endParaRPr lang="it-IT" sz="1400"/>
          </a:p>
          <a:p>
            <a:pPr>
              <a:lnSpc>
                <a:spcPct val="110000"/>
              </a:lnSpc>
              <a:buFont typeface=""/>
              <a:buChar char="•"/>
            </a:pPr>
            <a:endParaRPr lang="it-IT" sz="1400"/>
          </a:p>
        </p:txBody>
      </p:sp>
      <p:pic>
        <p:nvPicPr>
          <p:cNvPr id="4" name="Immagine 3" descr="Immagine che contiene testo, schermata, softwa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115D59F9-4FD3-0DBE-6646-DB16DEAC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225238"/>
            <a:ext cx="5837780" cy="440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7FCB1-6C35-B52D-D5BE-D876DF1A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70293E-3031-8C80-1E4D-F381E716D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570448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VanillaVTI</vt:lpstr>
      <vt:lpstr>Progetto ISS Elyndor</vt:lpstr>
      <vt:lpstr>Elyndor</vt:lpstr>
      <vt:lpstr>Technical &amp; Functional Requirements</vt:lpstr>
      <vt:lpstr>User stories</vt:lpstr>
      <vt:lpstr>Sequence Diagram</vt:lpstr>
      <vt:lpstr>First Sprint</vt:lpstr>
      <vt:lpstr>Test Design</vt:lpstr>
      <vt:lpstr>Design Patterns </vt:lpstr>
      <vt:lpstr>Versioning Control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97</cp:revision>
  <dcterms:created xsi:type="dcterms:W3CDTF">2025-12-14T13:43:18Z</dcterms:created>
  <dcterms:modified xsi:type="dcterms:W3CDTF">2025-12-14T16:11:46Z</dcterms:modified>
</cp:coreProperties>
</file>